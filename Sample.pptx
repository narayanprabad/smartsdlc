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00D4AA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914400"/>
            <a:ext cx="3657600" cy="3657600"/>
          </a:xfrm>
          <a:prstGeom prst="ellipse">
            <a:avLst/>
          </a:prstGeom>
          <a:solidFill>
            <a:srgbClr val="00D4AA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7373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DELIVERIES AUTOMATION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31520" y="2468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Update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31520" y="32004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80 sprints into 2 days. Zero code changes for new markets.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B283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61772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8680" y="45720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 Exercise &amp; Assignment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868680" y="4754880"/>
            <a:ext cx="640080" cy="201168"/>
          </a:xfrm>
          <a:prstGeom prst="roundRect">
            <a:avLst>
              <a:gd name="adj" fmla="val 22727"/>
            </a:avLst>
          </a:prstGeom>
          <a:solidFill>
            <a:srgbClr val="00D4A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46177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20440" y="45720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Config Feed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3520440" y="4754880"/>
            <a:ext cx="640080" cy="201168"/>
          </a:xfrm>
          <a:prstGeom prst="roundRect">
            <a:avLst>
              <a:gd name="adj" fmla="val 22727"/>
            </a:avLst>
          </a:prstGeom>
          <a:solidFill>
            <a:srgbClr val="00D4A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4617720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72200" y="45720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IFLO Flow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6172200" y="4754880"/>
            <a:ext cx="640080" cy="201168"/>
          </a:xfrm>
          <a:prstGeom prst="roundRect">
            <a:avLst>
              <a:gd name="adj" fmla="val 22727"/>
            </a:avLst>
          </a:prstGeom>
          <a:solidFill>
            <a:srgbClr val="00D4A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GAME CHANGER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CCP Auto-Configurable Feed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feed onboarding required 2 sprints of dev effort. With 40+ feeds, that's 80 sprints of SDLC overhead. Meher's mandate: eliminate the dev cycle entirely.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749040" cy="2560320"/>
          </a:xfrm>
          <a:prstGeom prst="rect">
            <a:avLst/>
          </a:prstGeom>
          <a:solidFill>
            <a:srgbClr val="FFF5F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011680"/>
            <a:ext cx="3749040" cy="54864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28600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2286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2743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</a:t>
            </a:r>
            <a:endParaRPr lang="en-US" sz="7200" dirty="0"/>
          </a:p>
        </p:txBody>
      </p:sp>
      <p:sp>
        <p:nvSpPr>
          <p:cNvPr id="11" name="Text 8"/>
          <p:cNvSpPr/>
          <p:nvPr/>
        </p:nvSpPr>
        <p:spPr>
          <a:xfrm>
            <a:off x="2926080" y="2926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926080" y="3246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developer effort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14400" y="37033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feeds × 2 sprints each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SDLC cycle per onboarding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team bottleneck</a:t>
            </a:r>
            <a:endParaRPr lang="en-US" sz="11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3017520"/>
            <a:ext cx="320040" cy="32004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846320" y="2011680"/>
            <a:ext cx="3749040" cy="2560320"/>
          </a:xfrm>
          <a:prstGeom prst="rect">
            <a:avLst/>
          </a:prstGeom>
          <a:solidFill>
            <a:srgbClr val="F0FFF8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846320" y="2011680"/>
            <a:ext cx="3749040" cy="54864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228600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532120" y="2286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120640" y="27432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0A8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7200" dirty="0"/>
          </a:p>
        </p:txBody>
      </p:sp>
      <p:sp>
        <p:nvSpPr>
          <p:cNvPr id="20" name="Text 15"/>
          <p:cNvSpPr/>
          <p:nvPr/>
        </p:nvSpPr>
        <p:spPr>
          <a:xfrm>
            <a:off x="6400800" y="2926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00800" y="3246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120640" y="37033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Ops-driven configuration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SDLC required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config &amp; promotion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40080" y="4709160"/>
            <a:ext cx="7863840" cy="3200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4" name="Text 19"/>
          <p:cNvSpPr/>
          <p:nvPr/>
        </p:nvSpPr>
        <p:spPr>
          <a:xfrm>
            <a:off x="640080" y="47091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40x FASTER  ·  ZERO DEV DEPENDENCY  ·  OPS SELF-SERVICE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CCP-Initiated Expiry Processing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280160" cy="1051560"/>
          </a:xfrm>
          <a:prstGeom prst="rect">
            <a:avLst/>
          </a:prstGeom>
          <a:solidFill>
            <a:srgbClr val="1B2838"/>
          </a:solidFill>
          <a:ln w="6350">
            <a:solidFill>
              <a:srgbClr val="415A7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128016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207008"/>
            <a:ext cx="237744" cy="237744"/>
          </a:xfrm>
          <a:prstGeom prst="ellipse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" y="1481328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 Initiated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Feeds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" y="184708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received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CCP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746504" y="1417320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039112" y="1097280"/>
            <a:ext cx="1280160" cy="1051560"/>
          </a:xfrm>
          <a:prstGeom prst="rect">
            <a:avLst/>
          </a:prstGeom>
          <a:solidFill>
            <a:srgbClr val="1B2838"/>
          </a:solidFill>
          <a:ln w="6350">
            <a:solidFill>
              <a:srgbClr val="415A7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39112" y="1097280"/>
            <a:ext cx="128016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3" name="Text 11"/>
          <p:cNvSpPr/>
          <p:nvPr/>
        </p:nvSpPr>
        <p:spPr>
          <a:xfrm>
            <a:off x="2112264" y="1207008"/>
            <a:ext cx="237744" cy="237744"/>
          </a:xfrm>
          <a:prstGeom prst="ellipse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12264" y="1481328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Encore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12264" y="184708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Deciphers metadata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stores in system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28416" y="1417320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21024" y="1097280"/>
            <a:ext cx="1280160" cy="1051560"/>
          </a:xfrm>
          <a:prstGeom prst="rect">
            <a:avLst/>
          </a:prstGeom>
          <a:solidFill>
            <a:srgbClr val="1B2838"/>
          </a:solidFill>
          <a:ln w="6350">
            <a:solidFill>
              <a:srgbClr val="415A7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21024" y="1097280"/>
            <a:ext cx="128016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9" name="Text 17"/>
          <p:cNvSpPr/>
          <p:nvPr/>
        </p:nvSpPr>
        <p:spPr>
          <a:xfrm>
            <a:off x="3694176" y="1207008"/>
            <a:ext cx="237744" cy="237744"/>
          </a:xfrm>
          <a:prstGeom prst="ellipse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94176" y="1481328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94176" y="184708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booking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910328" y="1417320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202936" y="1097280"/>
            <a:ext cx="1280160" cy="1051560"/>
          </a:xfrm>
          <a:prstGeom prst="rect">
            <a:avLst/>
          </a:prstGeom>
          <a:solidFill>
            <a:srgbClr val="1B2838"/>
          </a:solidFill>
          <a:ln w="6350">
            <a:solidFill>
              <a:srgbClr val="415A7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02936" y="1097280"/>
            <a:ext cx="1280160" cy="36576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25" name="Text 23"/>
          <p:cNvSpPr/>
          <p:nvPr/>
        </p:nvSpPr>
        <p:spPr>
          <a:xfrm>
            <a:off x="5276088" y="1207008"/>
            <a:ext cx="237744" cy="237744"/>
          </a:xfrm>
          <a:prstGeom prst="ellipse">
            <a:avLst/>
          </a:prstGeom>
          <a:solidFill>
            <a:srgbClr val="FFB70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76088" y="1481328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76088" y="184708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booking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492240" y="1417320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784848" y="1097280"/>
            <a:ext cx="1280160" cy="1051560"/>
          </a:xfrm>
          <a:prstGeom prst="rect">
            <a:avLst/>
          </a:prstGeom>
          <a:solidFill>
            <a:srgbClr val="1B2838"/>
          </a:solidFill>
          <a:ln w="6350">
            <a:solidFill>
              <a:srgbClr val="415A7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84848" y="1097280"/>
            <a:ext cx="1280160" cy="36576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0" y="1207008"/>
            <a:ext cx="237744" cy="237744"/>
          </a:xfrm>
          <a:prstGeom prst="ellipse">
            <a:avLst/>
          </a:prstGeom>
          <a:solidFill>
            <a:srgbClr val="FFB70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58000" y="1481328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58000" y="184708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Experience-driven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to clients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7200" y="2377440"/>
            <a:ext cx="8229600" cy="18288"/>
          </a:xfrm>
          <a:prstGeom prst="rect">
            <a:avLst/>
          </a:prstGeom>
          <a:solidFill>
            <a:srgbClr val="415A77">
              <a:alpha val="40000"/>
            </a:srgbClr>
          </a:solidFill>
          <a:ln/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578608"/>
            <a:ext cx="256032" cy="256032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804672" y="25603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&amp; Assignment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804672" y="27614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complete — CCP initiated flows fully operational</a:t>
            </a:r>
            <a:endParaRPr lang="en-US" sz="900" dirty="0"/>
          </a:p>
        </p:txBody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2578608"/>
            <a:ext cx="256032" cy="256032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3593592" y="25603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Balancing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3593592" y="27614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Auto-configurable — no SDLC for new feed onboarding</a:t>
            </a:r>
            <a:endParaRPr lang="en-US" sz="900" dirty="0"/>
          </a:p>
        </p:txBody>
      </p:sp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578608"/>
            <a:ext cx="256032" cy="256032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6382512" y="25603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IFLO Flow</a:t>
            </a:r>
            <a:endParaRPr lang="en-US" sz="1100" dirty="0"/>
          </a:p>
        </p:txBody>
      </p:sp>
      <p:sp>
        <p:nvSpPr>
          <p:cNvPr id="43" name="Text 38"/>
          <p:cNvSpPr/>
          <p:nvPr/>
        </p:nvSpPr>
        <p:spPr>
          <a:xfrm>
            <a:off x="6382512" y="27614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production — end-to-end processing active</a:t>
            </a:r>
            <a:endParaRPr lang="en-US" sz="900" dirty="0"/>
          </a:p>
        </p:txBody>
      </p:sp>
      <p:sp>
        <p:nvSpPr>
          <p:cNvPr id="44" name="Shape 39"/>
          <p:cNvSpPr/>
          <p:nvPr/>
        </p:nvSpPr>
        <p:spPr>
          <a:xfrm>
            <a:off x="457200" y="3246120"/>
            <a:ext cx="8229600" cy="731520"/>
          </a:xfrm>
          <a:prstGeom prst="rect">
            <a:avLst/>
          </a:prstGeom>
          <a:solidFill>
            <a:srgbClr val="0A1420"/>
          </a:solidFill>
          <a:ln/>
        </p:spPr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364992"/>
            <a:ext cx="347472" cy="347472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1143000" y="33101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Perfectly Extensible to Other Markets</a:t>
            </a:r>
            <a:endParaRPr lang="en-US" sz="1500" dirty="0"/>
          </a:p>
        </p:txBody>
      </p:sp>
      <p:sp>
        <p:nvSpPr>
          <p:cNvPr id="47" name="Text 41"/>
          <p:cNvSpPr/>
          <p:nvPr/>
        </p:nvSpPr>
        <p:spPr>
          <a:xfrm>
            <a:off x="1143000" y="35661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pipeline — from CCP expiry feeds through Encore, balancing, booking, and client notification — requires zero code changes for new market onboarding.</a:t>
            </a:r>
            <a:endParaRPr lang="en-US" sz="1000" dirty="0"/>
          </a:p>
        </p:txBody>
      </p:sp>
      <p:sp>
        <p:nvSpPr>
          <p:cNvPr id="48" name="Shape 42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49" name="Text 43"/>
          <p:cNvSpPr/>
          <p:nvPr/>
        </p:nvSpPr>
        <p:spPr>
          <a:xfrm>
            <a:off x="1371600" y="42062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50" name="Text 44"/>
          <p:cNvSpPr/>
          <p:nvPr/>
        </p:nvSpPr>
        <p:spPr>
          <a:xfrm>
            <a:off x="1188720" y="4572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Stages</a:t>
            </a:r>
            <a:endParaRPr lang="en-US" sz="900" dirty="0"/>
          </a:p>
        </p:txBody>
      </p:sp>
      <p:sp>
        <p:nvSpPr>
          <p:cNvPr id="51" name="Text 45"/>
          <p:cNvSpPr/>
          <p:nvPr/>
        </p:nvSpPr>
        <p:spPr>
          <a:xfrm>
            <a:off x="3931920" y="42062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200" dirty="0"/>
          </a:p>
        </p:txBody>
      </p:sp>
      <p:sp>
        <p:nvSpPr>
          <p:cNvPr id="52" name="Text 46"/>
          <p:cNvSpPr/>
          <p:nvPr/>
        </p:nvSpPr>
        <p:spPr>
          <a:xfrm>
            <a:off x="3749040" y="4572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Changes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New Markets</a:t>
            </a:r>
            <a:endParaRPr lang="en-US" sz="900" dirty="0"/>
          </a:p>
        </p:txBody>
      </p:sp>
      <p:sp>
        <p:nvSpPr>
          <p:cNvPr id="53" name="Text 47"/>
          <p:cNvSpPr/>
          <p:nvPr/>
        </p:nvSpPr>
        <p:spPr>
          <a:xfrm>
            <a:off x="6492240" y="42062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</a:t>
            </a:r>
            <a:endParaRPr lang="en-US" sz="2200" dirty="0"/>
          </a:p>
        </p:txBody>
      </p:sp>
      <p:sp>
        <p:nvSpPr>
          <p:cNvPr id="54" name="Text 48"/>
          <p:cNvSpPr/>
          <p:nvPr/>
        </p:nvSpPr>
        <p:spPr>
          <a:xfrm>
            <a:off x="6309360" y="4572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Status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Parallel Execution Strategy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and Tech now run in parallel — each focused on what they do best.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3749040" cy="2560320"/>
          </a:xfrm>
          <a:prstGeom prst="rect">
            <a:avLst/>
          </a:prstGeom>
          <a:solidFill>
            <a:srgbClr val="F7FDF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737360"/>
            <a:ext cx="64008" cy="256032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96596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OPS TEAM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05840" y="2468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Onboarding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880360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2834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feed onboarding (no dev required)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246120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200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configuration &amp; promotion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611880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25880" y="3566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Market-by-market rollout execution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4754880" y="1737360"/>
            <a:ext cx="3749040" cy="25603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4754880" y="1737360"/>
            <a:ext cx="64008" cy="2560320"/>
          </a:xfrm>
          <a:prstGeom prst="rect">
            <a:avLst/>
          </a:prstGeom>
          <a:solidFill>
            <a:srgbClr val="FFB703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1965960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57784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TEAM</a:t>
            </a: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5120640" y="2468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Engineering</a:t>
            </a:r>
            <a:endParaRPr lang="en-US" sz="13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2880360"/>
            <a:ext cx="182880" cy="18288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440680" y="2834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Futures delivery balancing</a:t>
            </a:r>
            <a:endParaRPr lang="en-US" sz="11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0" y="3246120"/>
            <a:ext cx="182880" cy="18288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440680" y="3200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delivery balancing</a:t>
            </a:r>
            <a:endParaRPr lang="en-US" sz="11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0640" y="3611880"/>
            <a:ext cx="182880" cy="18288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440680" y="3566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evolution &amp; resilience</a:t>
            </a:r>
            <a:endParaRPr lang="en-US" sz="1100" dirty="0"/>
          </a:p>
        </p:txBody>
      </p:sp>
      <p:sp>
        <p:nvSpPr>
          <p:cNvPr id="28" name="Shape 18"/>
          <p:cNvSpPr/>
          <p:nvPr/>
        </p:nvSpPr>
        <p:spPr>
          <a:xfrm>
            <a:off x="0" y="4251960"/>
            <a:ext cx="9144000" cy="8915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9" name="Text 19"/>
          <p:cNvSpPr/>
          <p:nvPr/>
        </p:nvSpPr>
        <p:spPr>
          <a:xfrm>
            <a:off x="1097280" y="427939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40x</a:t>
            </a:r>
            <a:endParaRPr lang="en-US" sz="2400" dirty="0"/>
          </a:p>
        </p:txBody>
      </p:sp>
      <p:sp>
        <p:nvSpPr>
          <p:cNvPr id="30" name="Text 20"/>
          <p:cNvSpPr/>
          <p:nvPr/>
        </p:nvSpPr>
        <p:spPr>
          <a:xfrm>
            <a:off x="914400" y="464515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Onboarding</a:t>
            </a:r>
            <a:endParaRPr lang="en-US" sz="950" dirty="0"/>
          </a:p>
        </p:txBody>
      </p:sp>
      <p:sp>
        <p:nvSpPr>
          <p:cNvPr id="31" name="Text 21"/>
          <p:cNvSpPr/>
          <p:nvPr/>
        </p:nvSpPr>
        <p:spPr>
          <a:xfrm>
            <a:off x="3840480" y="427939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400" dirty="0"/>
          </a:p>
        </p:txBody>
      </p:sp>
      <p:sp>
        <p:nvSpPr>
          <p:cNvPr id="32" name="Text 22"/>
          <p:cNvSpPr/>
          <p:nvPr/>
        </p:nvSpPr>
        <p:spPr>
          <a:xfrm>
            <a:off x="3657600" y="464515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Changes for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Markets</a:t>
            </a:r>
            <a:endParaRPr lang="en-US" sz="950" dirty="0"/>
          </a:p>
        </p:txBody>
      </p:sp>
      <p:sp>
        <p:nvSpPr>
          <p:cNvPr id="33" name="Text 23"/>
          <p:cNvSpPr/>
          <p:nvPr/>
        </p:nvSpPr>
        <p:spPr>
          <a:xfrm>
            <a:off x="6583680" y="427939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400" dirty="0"/>
          </a:p>
        </p:txBody>
      </p:sp>
      <p:sp>
        <p:nvSpPr>
          <p:cNvPr id="34" name="Text 24"/>
          <p:cNvSpPr/>
          <p:nvPr/>
        </p:nvSpPr>
        <p:spPr>
          <a:xfrm>
            <a:off x="6400800" y="464515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Self-Service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Deliveries Automation – Executive Update</dc:title>
  <dc:subject>PptxGenJS Presentation</dc:subject>
  <dc:creator>Deliveries Automation</dc:creator>
  <cp:lastModifiedBy>Deliveries Automation</cp:lastModifiedBy>
  <cp:revision>1</cp:revision>
  <dcterms:created xsi:type="dcterms:W3CDTF">2026-02-25T05:07:37Z</dcterms:created>
  <dcterms:modified xsi:type="dcterms:W3CDTF">2026-02-25T05:07:37Z</dcterms:modified>
</cp:coreProperties>
</file>